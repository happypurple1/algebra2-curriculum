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707559-1EE0-40C5-AD2C-DE8B2103DDE7}">
  <a:tblStyle styleId="{D7707559-1EE0-40C5-AD2C-DE8B2103DD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697e004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9697e004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86ca164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86ca164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9156c0ae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9156c0ae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51182b81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51182b81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966e79a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966e79a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51182b81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51182b81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138b18a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138b18a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51182b81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51182b81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51182b8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51182b8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79de2ef6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79de2ef6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9697e00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9697e00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9697e004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9697e004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9697e004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9697e004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9697e004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9697e004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9697e004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9697e004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document/u/0/d/17M5l1PqDmt5brTZDWJvdZ3UL11AEr_ToY9QEwFusRLA/edit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document/u/0/d/17M5l1PqDmt5brTZDWJvdZ3UL11AEr_ToY9QEwFusRLA/edi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document/u/0/d/17M5l1PqDmt5brTZDWJvdZ3UL11AEr_ToY9QEwFusRLA/edi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document/u/0/d/17M5l1PqDmt5brTZDWJvdZ3UL11AEr_ToY9QEwFusRLA/edi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document/u/0/d/17M5l1PqDmt5brTZDWJvdZ3UL11AEr_ToY9QEwFusRLA/edi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document/u/0/d/17M5l1PqDmt5brTZDWJvdZ3UL11AEr_ToY9QEwFusRLA/edit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document/u/0/d/17M5l1PqDmt5brTZDWJvdZ3UL11AEr_ToY9QEwFusRLA/edit" TargetMode="External"/><Relationship Id="rId9" Type="http://schemas.openxmlformats.org/officeDocument/2006/relationships/hyperlink" Target="https://drive.google.com/file/d/1lRQzjd7ORl4sy6opDHz-ZdMUtGcmX2-0/view?usp=drive_link" TargetMode="External"/><Relationship Id="rId5" Type="http://schemas.openxmlformats.org/officeDocument/2006/relationships/hyperlink" Target="https://docs.google.com/document/d/1uEK2DCoA7CxySnJEjBTwFAcogIgjiDNrWFLY_295Pq4/edit?usp=sharing" TargetMode="External"/><Relationship Id="rId6" Type="http://schemas.openxmlformats.org/officeDocument/2006/relationships/hyperlink" Target="https://docs.google.com/document/d/17T9IRhC_7AmwV5YrnD1avZlJ_ykAeKBF32KuzkiYBYM/edit?usp=drive_link" TargetMode="External"/><Relationship Id="rId7" Type="http://schemas.openxmlformats.org/officeDocument/2006/relationships/hyperlink" Target="https://docs.google.com/document/d/1M8P2z8QSvtPqY5QsL0TfcIGYicN-ApuM4rXf2uR8x2Y/edit?usp=drive_link" TargetMode="External"/><Relationship Id="rId8" Type="http://schemas.openxmlformats.org/officeDocument/2006/relationships/hyperlink" Target="https://drive.google.com/file/d/1LmbCcAhdwFM6egoj02jFxEChD9BO21Xq/view?usp=drive_link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document/u/0/d/17M5l1PqDmt5brTZDWJvdZ3UL11AEr_ToY9QEwFusRLA/edit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document/u/0/d/17M5l1PqDmt5brTZDWJvdZ3UL11AEr_ToY9QEwFusRLA/edit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document/u/0/d/17M5l1PqDmt5brTZDWJvdZ3UL11AEr_ToY9QEwFusRLA/edi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document/u/0/d/17M5l1PqDmt5brTZDWJvdZ3UL11AEr_ToY9QEwFusRLA/edi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document/u/0/d/17M5l1PqDmt5brTZDWJvdZ3UL11AEr_ToY9QEwFusRLA/edit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document/u/0/d/17M5l1PqDmt5brTZDWJvdZ3UL11AEr_ToY9QEwFusRLA/edit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document/u/0/d/17M5l1PqDmt5brTZDWJvdZ3UL11AEr_ToY9QEwFusRLA/edit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document/u/0/d/17M5l1PqDmt5brTZDWJvdZ3UL11AEr_ToY9QEwFusRLA/ed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55225" y="17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{D7707559-1EE0-40C5-AD2C-DE8B2103DDE7}</a:tableStyleId>
              </a:tblPr>
              <a:tblGrid>
                <a:gridCol w="1360675"/>
                <a:gridCol w="1110700"/>
                <a:gridCol w="1235700"/>
                <a:gridCol w="1235700"/>
                <a:gridCol w="1235700"/>
                <a:gridCol w="1235700"/>
              </a:tblGrid>
              <a:tr h="57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1/19-1/23</a:t>
                      </a:r>
                      <a:endParaRPr b="1" sz="1200" u="sng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4"/>
                        </a:rPr>
                        <a:t>PLC Guide</a:t>
                      </a:r>
                      <a:endParaRPr b="1" sz="10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Monday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Tuesday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Wednesday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Thursday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Friday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Curriculum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Essential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Unpacking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Creating learning target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Teacher PD and Work Day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Began arranging Unit 7- Work on Ordering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Finalize order for Unit 7 and begin making test, quizzes, notes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FInalize Unit 7 Test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Finalize Unit 7 Notes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Assessment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Formative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Summative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 Dialogue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 Dialogue over 6.1 test????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Intervention/ Extension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5" name="Google Shape;55;p13"/>
          <p:cNvSpPr/>
          <p:nvPr/>
        </p:nvSpPr>
        <p:spPr>
          <a:xfrm>
            <a:off x="7545625" y="194150"/>
            <a:ext cx="1494000" cy="4794900"/>
          </a:xfrm>
          <a:prstGeom prst="roundRect">
            <a:avLst>
              <a:gd fmla="val 5696" name="adj"/>
            </a:avLst>
          </a:prstGeom>
          <a:solidFill>
            <a:srgbClr val="D9D2E9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7545625" y="194250"/>
            <a:ext cx="1494000" cy="479100"/>
          </a:xfrm>
          <a:prstGeom prst="roundRect">
            <a:avLst>
              <a:gd fmla="val 5696" name="adj"/>
            </a:avLst>
          </a:prstGeom>
          <a:solidFill>
            <a:srgbClr val="B4A7D6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711075" y="233700"/>
            <a:ext cx="116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latin typeface="Verdana"/>
                <a:ea typeface="Verdana"/>
                <a:cs typeface="Verdana"/>
                <a:sym typeface="Verdana"/>
              </a:rPr>
              <a:t>Next time:</a:t>
            </a:r>
            <a:endParaRPr b="1" sz="1200" u="sng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640275" y="673350"/>
            <a:ext cx="1304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Finalize Unit 7 Quizzes </a:t>
            </a:r>
            <a:endParaRPr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Google Shape;63;p14"/>
          <p:cNvGraphicFramePr/>
          <p:nvPr/>
        </p:nvGraphicFramePr>
        <p:xfrm>
          <a:off x="55225" y="17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{D7707559-1EE0-40C5-AD2C-DE8B2103DDE7}</a:tableStyleId>
              </a:tblPr>
              <a:tblGrid>
                <a:gridCol w="1360675"/>
                <a:gridCol w="1110700"/>
                <a:gridCol w="1235700"/>
                <a:gridCol w="1235700"/>
                <a:gridCol w="1235700"/>
                <a:gridCol w="1235700"/>
              </a:tblGrid>
              <a:tr h="57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12/8-12/12</a:t>
                      </a:r>
                      <a:endParaRPr b="1" sz="1200" u="sng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4"/>
                        </a:rPr>
                        <a:t>PLC Guide</a:t>
                      </a:r>
                      <a:endParaRPr b="1" sz="10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Monday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Tuesday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Wednesday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Thursday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Friday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Curriculum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Essential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Unpacking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Creating learning target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 strike="sng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Assessment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Formative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Summative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 Dialogue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Intervention/ Extension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4" name="Google Shape;64;p14"/>
          <p:cNvSpPr/>
          <p:nvPr/>
        </p:nvSpPr>
        <p:spPr>
          <a:xfrm>
            <a:off x="7545625" y="194150"/>
            <a:ext cx="1494000" cy="4794900"/>
          </a:xfrm>
          <a:prstGeom prst="roundRect">
            <a:avLst>
              <a:gd fmla="val 5696" name="adj"/>
            </a:avLst>
          </a:prstGeom>
          <a:solidFill>
            <a:srgbClr val="D9D2E9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7545625" y="194250"/>
            <a:ext cx="1494000" cy="479100"/>
          </a:xfrm>
          <a:prstGeom prst="roundRect">
            <a:avLst>
              <a:gd fmla="val 5696" name="adj"/>
            </a:avLst>
          </a:prstGeom>
          <a:solidFill>
            <a:srgbClr val="B4A7D6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7711075" y="233700"/>
            <a:ext cx="116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latin typeface="Verdana"/>
                <a:ea typeface="Verdana"/>
                <a:cs typeface="Verdana"/>
                <a:sym typeface="Verdana"/>
              </a:rPr>
              <a:t>Next time:</a:t>
            </a:r>
            <a:endParaRPr b="1" sz="1200" u="sng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7640275" y="673350"/>
            <a:ext cx="1304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Google Shape;72;p15"/>
          <p:cNvGraphicFramePr/>
          <p:nvPr/>
        </p:nvGraphicFramePr>
        <p:xfrm>
          <a:off x="55225" y="17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{D7707559-1EE0-40C5-AD2C-DE8B2103DDE7}</a:tableStyleId>
              </a:tblPr>
              <a:tblGrid>
                <a:gridCol w="1360675"/>
                <a:gridCol w="1110700"/>
                <a:gridCol w="1235700"/>
                <a:gridCol w="1235700"/>
                <a:gridCol w="1235700"/>
                <a:gridCol w="1235700"/>
              </a:tblGrid>
              <a:tr h="57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12/1-12/5</a:t>
                      </a:r>
                      <a:endParaRPr b="1" sz="1200" u="sng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4"/>
                        </a:rPr>
                        <a:t>PLC Guide</a:t>
                      </a:r>
                      <a:endParaRPr b="1" sz="10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Monday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Tuesday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Wednesday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Thursday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Friday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Curriculum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Essential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Unpacking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Creating learning target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Create &amp; edit notes for solving Sqr roots</a:t>
                      </a:r>
                      <a:endParaRPr sz="1000"/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Create Review for sqrt test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Unpack those TEKS and look at those learning targets.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Assessment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Formative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Summative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 Dialogue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Intervention/ Extension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3" name="Google Shape;73;p15"/>
          <p:cNvSpPr/>
          <p:nvPr/>
        </p:nvSpPr>
        <p:spPr>
          <a:xfrm>
            <a:off x="7545625" y="194150"/>
            <a:ext cx="1494000" cy="4794900"/>
          </a:xfrm>
          <a:prstGeom prst="roundRect">
            <a:avLst>
              <a:gd fmla="val 5696" name="adj"/>
            </a:avLst>
          </a:prstGeom>
          <a:solidFill>
            <a:srgbClr val="D9D2E9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7545625" y="194250"/>
            <a:ext cx="1494000" cy="479100"/>
          </a:xfrm>
          <a:prstGeom prst="roundRect">
            <a:avLst>
              <a:gd fmla="val 5696" name="adj"/>
            </a:avLst>
          </a:prstGeom>
          <a:solidFill>
            <a:srgbClr val="B4A7D6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7711075" y="233700"/>
            <a:ext cx="116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latin typeface="Verdana"/>
                <a:ea typeface="Verdana"/>
                <a:cs typeface="Verdana"/>
                <a:sym typeface="Verdana"/>
              </a:rPr>
              <a:t>Next time:</a:t>
            </a:r>
            <a:endParaRPr b="1" sz="1200" u="sng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640275" y="673350"/>
            <a:ext cx="1304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Google Shape;81;p16"/>
          <p:cNvGraphicFramePr/>
          <p:nvPr/>
        </p:nvGraphicFramePr>
        <p:xfrm>
          <a:off x="55225" y="17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{D7707559-1EE0-40C5-AD2C-DE8B2103DDE7}</a:tableStyleId>
              </a:tblPr>
              <a:tblGrid>
                <a:gridCol w="1360675"/>
                <a:gridCol w="1110700"/>
                <a:gridCol w="1235700"/>
                <a:gridCol w="1235700"/>
                <a:gridCol w="1235700"/>
                <a:gridCol w="1235700"/>
              </a:tblGrid>
              <a:tr h="57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11/24-11/25</a:t>
                      </a:r>
                      <a:endParaRPr b="1" sz="1200" u="sng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4"/>
                        </a:rPr>
                        <a:t>PLC Guide</a:t>
                      </a:r>
                      <a:endParaRPr b="1" sz="10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Monday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Tuesday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Wednesday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Thursday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Friday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Curriculum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Essential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Unpacking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Creating learning target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Unit 4&amp;5 materials for Next Monday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No meet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Assessment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Formative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Summative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 Dialogue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Intervention/ Extension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2" name="Google Shape;82;p16"/>
          <p:cNvSpPr/>
          <p:nvPr/>
        </p:nvSpPr>
        <p:spPr>
          <a:xfrm>
            <a:off x="7545625" y="194150"/>
            <a:ext cx="1494000" cy="4794900"/>
          </a:xfrm>
          <a:prstGeom prst="roundRect">
            <a:avLst>
              <a:gd fmla="val 5696" name="adj"/>
            </a:avLst>
          </a:prstGeom>
          <a:solidFill>
            <a:srgbClr val="D9D2E9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7545625" y="194250"/>
            <a:ext cx="1494000" cy="479100"/>
          </a:xfrm>
          <a:prstGeom prst="roundRect">
            <a:avLst>
              <a:gd fmla="val 5696" name="adj"/>
            </a:avLst>
          </a:prstGeom>
          <a:solidFill>
            <a:srgbClr val="B4A7D6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7711075" y="233700"/>
            <a:ext cx="116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latin typeface="Verdana"/>
                <a:ea typeface="Verdana"/>
                <a:cs typeface="Verdana"/>
                <a:sym typeface="Verdana"/>
              </a:rPr>
              <a:t>Next time:</a:t>
            </a:r>
            <a:endParaRPr b="1" sz="1200" u="sng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7640275" y="673350"/>
            <a:ext cx="1304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Google Shape;90;p17"/>
          <p:cNvGraphicFramePr/>
          <p:nvPr/>
        </p:nvGraphicFramePr>
        <p:xfrm>
          <a:off x="55225" y="17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{D7707559-1EE0-40C5-AD2C-DE8B2103DDE7}</a:tableStyleId>
              </a:tblPr>
              <a:tblGrid>
                <a:gridCol w="1360675"/>
                <a:gridCol w="1110700"/>
                <a:gridCol w="1235700"/>
                <a:gridCol w="1235700"/>
                <a:gridCol w="1235700"/>
                <a:gridCol w="1235700"/>
              </a:tblGrid>
              <a:tr h="57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11/24-11/25</a:t>
                      </a:r>
                      <a:endParaRPr b="1" sz="1200" u="sng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4"/>
                        </a:rPr>
                        <a:t>PLC Guide</a:t>
                      </a:r>
                      <a:endParaRPr b="1" sz="10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Monday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Tuesday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Wednesday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Thursday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Friday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Curriculum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Essential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Unpacking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Creating learning target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Unit 4&amp;5 materials for Next Monday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No meet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Assessment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Formative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Summative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 Dialogue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Intervention/ Extension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1" name="Google Shape;91;p17"/>
          <p:cNvSpPr/>
          <p:nvPr/>
        </p:nvSpPr>
        <p:spPr>
          <a:xfrm>
            <a:off x="7545625" y="194150"/>
            <a:ext cx="1494000" cy="4794900"/>
          </a:xfrm>
          <a:prstGeom prst="roundRect">
            <a:avLst>
              <a:gd fmla="val 5696" name="adj"/>
            </a:avLst>
          </a:prstGeom>
          <a:solidFill>
            <a:srgbClr val="D9D2E9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7545625" y="194250"/>
            <a:ext cx="1494000" cy="479100"/>
          </a:xfrm>
          <a:prstGeom prst="roundRect">
            <a:avLst>
              <a:gd fmla="val 5696" name="adj"/>
            </a:avLst>
          </a:prstGeom>
          <a:solidFill>
            <a:srgbClr val="B4A7D6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 txBox="1"/>
          <p:nvPr/>
        </p:nvSpPr>
        <p:spPr>
          <a:xfrm>
            <a:off x="7711075" y="233700"/>
            <a:ext cx="116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latin typeface="Verdana"/>
                <a:ea typeface="Verdana"/>
                <a:cs typeface="Verdana"/>
                <a:sym typeface="Verdana"/>
              </a:rPr>
              <a:t>Next time:</a:t>
            </a:r>
            <a:endParaRPr b="1" sz="1200" u="sng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7640275" y="673350"/>
            <a:ext cx="1304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18"/>
          <p:cNvGraphicFramePr/>
          <p:nvPr/>
        </p:nvGraphicFramePr>
        <p:xfrm>
          <a:off x="55225" y="17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{D7707559-1EE0-40C5-AD2C-DE8B2103DDE7}</a:tableStyleId>
              </a:tblPr>
              <a:tblGrid>
                <a:gridCol w="1360675"/>
                <a:gridCol w="1110700"/>
                <a:gridCol w="1235700"/>
                <a:gridCol w="1235700"/>
                <a:gridCol w="1235700"/>
                <a:gridCol w="1235700"/>
              </a:tblGrid>
              <a:tr h="57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11/17-11/21</a:t>
                      </a:r>
                      <a:endParaRPr b="1" sz="1200" u="sng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4"/>
                        </a:rPr>
                        <a:t>PLC Guide</a:t>
                      </a:r>
                      <a:endParaRPr b="1" sz="10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Monday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Tuesday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Wednesday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Thursday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Friday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Curriculum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Essential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Unpacking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Creating learning target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Decide about the advanced test.                                                                                    </a:t>
                      </a:r>
                      <a:endParaRPr sz="800" strike="sng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Begin Deciding what materials to use for Unit 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SNAPSHOT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Unit 5 Stuff, if needed.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TBD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Assessment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Formative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Summative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 Dialogue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Look at the solving data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Intervention/ Extension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Reteach and intervention strategies, if needed.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0" name="Google Shape;100;p18"/>
          <p:cNvSpPr/>
          <p:nvPr/>
        </p:nvSpPr>
        <p:spPr>
          <a:xfrm>
            <a:off x="7545625" y="194150"/>
            <a:ext cx="1494000" cy="4794900"/>
          </a:xfrm>
          <a:prstGeom prst="roundRect">
            <a:avLst>
              <a:gd fmla="val 5696" name="adj"/>
            </a:avLst>
          </a:prstGeom>
          <a:solidFill>
            <a:srgbClr val="D9D2E9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7545625" y="194250"/>
            <a:ext cx="1494000" cy="479100"/>
          </a:xfrm>
          <a:prstGeom prst="roundRect">
            <a:avLst>
              <a:gd fmla="val 5696" name="adj"/>
            </a:avLst>
          </a:prstGeom>
          <a:solidFill>
            <a:srgbClr val="B4A7D6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7711075" y="233700"/>
            <a:ext cx="116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latin typeface="Verdana"/>
                <a:ea typeface="Verdana"/>
                <a:cs typeface="Verdana"/>
                <a:sym typeface="Verdana"/>
              </a:rPr>
              <a:t>Next time:</a:t>
            </a:r>
            <a:endParaRPr b="1" sz="1200" u="sng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7640275" y="673350"/>
            <a:ext cx="1304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Google Shape;108;p19"/>
          <p:cNvGraphicFramePr/>
          <p:nvPr/>
        </p:nvGraphicFramePr>
        <p:xfrm>
          <a:off x="495625" y="17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{D7707559-1EE0-40C5-AD2C-DE8B2103DDE7}</a:tableStyleId>
              </a:tblPr>
              <a:tblGrid>
                <a:gridCol w="1279850"/>
                <a:gridCol w="1044725"/>
                <a:gridCol w="1162300"/>
                <a:gridCol w="1162300"/>
                <a:gridCol w="1162300"/>
                <a:gridCol w="1162300"/>
              </a:tblGrid>
              <a:tr h="518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11/10-11/14</a:t>
                      </a:r>
                      <a:endParaRPr b="1" sz="1100" u="sng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4"/>
                        </a:rPr>
                        <a:t>PLC Guide</a:t>
                      </a:r>
                      <a:endParaRPr b="1" sz="10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Monday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Tuesday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Wednesday</a:t>
                      </a:r>
                      <a:endParaRPr b="1" sz="11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Thursday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Friday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126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Curriculum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Essential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Unpacking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Creating learning target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Macroplan unit 5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5"/>
                        </a:rPr>
                        <a:t>District Template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6"/>
                        </a:rPr>
                        <a:t>Last Year’s Plans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7"/>
                        </a:rPr>
                        <a:t>Last Year’s Unwrapping Doc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8"/>
                        </a:rPr>
                        <a:t>Unit</a:t>
                      </a: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`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9"/>
                        </a:rPr>
                        <a:t>Create daily learning targets for unit 5.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Finalize</a:t>
                      </a: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the tests for Friday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Finalize the review for thursday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Discuss </a:t>
                      </a: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transformations</a:t>
                      </a: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materials for Wednesday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Are we </a:t>
                      </a:r>
                      <a:r>
                        <a:rPr lang="en"/>
                        <a:t>moving the test?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Discuss next weeks’ plans&amp;test.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We need to update our calendars to reflect the new date for the Unit 4 test. Ensure the physical sticky note calendar and both digital calendars are all updated with the new test date and that the information is identical across all three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Audit the physical sticky note calendar against both digital calendars. Resolve any discrepancies.Formally copy all updates related to the Unit 4 test move onto all three platforms. Verify that all three calendars are now 100% identical.Confirm all learning targets are correctly sequenced in the calendars post-revision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04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Assessment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Formative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Summative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 Dialogue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01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Intervention/ Extension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19"/>
          <p:cNvSpPr/>
          <p:nvPr/>
        </p:nvSpPr>
        <p:spPr>
          <a:xfrm>
            <a:off x="7545625" y="194150"/>
            <a:ext cx="1494000" cy="4794900"/>
          </a:xfrm>
          <a:prstGeom prst="roundRect">
            <a:avLst>
              <a:gd fmla="val 5696" name="adj"/>
            </a:avLst>
          </a:prstGeom>
          <a:solidFill>
            <a:srgbClr val="D9D2E9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/>
          <p:nvPr/>
        </p:nvSpPr>
        <p:spPr>
          <a:xfrm>
            <a:off x="7545625" y="194250"/>
            <a:ext cx="1494000" cy="479100"/>
          </a:xfrm>
          <a:prstGeom prst="roundRect">
            <a:avLst>
              <a:gd fmla="val 5696" name="adj"/>
            </a:avLst>
          </a:prstGeom>
          <a:solidFill>
            <a:srgbClr val="B4A7D6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 txBox="1"/>
          <p:nvPr/>
        </p:nvSpPr>
        <p:spPr>
          <a:xfrm>
            <a:off x="7711075" y="233700"/>
            <a:ext cx="116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latin typeface="Verdana"/>
                <a:ea typeface="Verdana"/>
                <a:cs typeface="Verdana"/>
                <a:sym typeface="Verdana"/>
              </a:rPr>
              <a:t>Next time:</a:t>
            </a:r>
            <a:endParaRPr b="1" sz="1200" u="sng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7640275" y="673350"/>
            <a:ext cx="1304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117;p20"/>
          <p:cNvGraphicFramePr/>
          <p:nvPr/>
        </p:nvGraphicFramePr>
        <p:xfrm>
          <a:off x="55225" y="17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{D7707559-1EE0-40C5-AD2C-DE8B2103DDE7}</a:tableStyleId>
              </a:tblPr>
              <a:tblGrid>
                <a:gridCol w="1360675"/>
                <a:gridCol w="1110700"/>
                <a:gridCol w="1235700"/>
                <a:gridCol w="1235700"/>
                <a:gridCol w="1235700"/>
                <a:gridCol w="1235700"/>
              </a:tblGrid>
              <a:tr h="57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10/27-10/31</a:t>
                      </a:r>
                      <a:endParaRPr b="1" sz="1200" u="sng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4"/>
                        </a:rPr>
                        <a:t>PLC Guide</a:t>
                      </a:r>
                      <a:endParaRPr b="1" sz="10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Monday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Tuesday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Wednesday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Thursday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Friday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Curriculum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Essential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Unpacking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Creating learning target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 strike="sng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Assessment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Formative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Summative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 Dialogue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Intervention/ Extension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8" name="Google Shape;118;p20"/>
          <p:cNvSpPr/>
          <p:nvPr/>
        </p:nvSpPr>
        <p:spPr>
          <a:xfrm>
            <a:off x="7545625" y="194150"/>
            <a:ext cx="1494000" cy="4794900"/>
          </a:xfrm>
          <a:prstGeom prst="roundRect">
            <a:avLst>
              <a:gd fmla="val 5696" name="adj"/>
            </a:avLst>
          </a:prstGeom>
          <a:solidFill>
            <a:srgbClr val="D9D2E9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/>
          <p:nvPr/>
        </p:nvSpPr>
        <p:spPr>
          <a:xfrm>
            <a:off x="7545625" y="194250"/>
            <a:ext cx="1494000" cy="479100"/>
          </a:xfrm>
          <a:prstGeom prst="roundRect">
            <a:avLst>
              <a:gd fmla="val 5696" name="adj"/>
            </a:avLst>
          </a:prstGeom>
          <a:solidFill>
            <a:srgbClr val="B4A7D6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0"/>
          <p:cNvSpPr txBox="1"/>
          <p:nvPr/>
        </p:nvSpPr>
        <p:spPr>
          <a:xfrm>
            <a:off x="7711075" y="233700"/>
            <a:ext cx="116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latin typeface="Verdana"/>
                <a:ea typeface="Verdana"/>
                <a:cs typeface="Verdana"/>
                <a:sym typeface="Verdana"/>
              </a:rPr>
              <a:t>Next time:</a:t>
            </a:r>
            <a:endParaRPr b="1" sz="1200" u="sng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7640275" y="673350"/>
            <a:ext cx="1304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" name="Google Shape;126;p21"/>
          <p:cNvGraphicFramePr/>
          <p:nvPr/>
        </p:nvGraphicFramePr>
        <p:xfrm>
          <a:off x="55225" y="17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{D7707559-1EE0-40C5-AD2C-DE8B2103DDE7}</a:tableStyleId>
              </a:tblPr>
              <a:tblGrid>
                <a:gridCol w="1360675"/>
                <a:gridCol w="1110700"/>
                <a:gridCol w="1235700"/>
                <a:gridCol w="1235700"/>
                <a:gridCol w="1235700"/>
                <a:gridCol w="1235700"/>
              </a:tblGrid>
              <a:tr h="57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9/24-9/28</a:t>
                      </a:r>
                      <a:endParaRPr b="1" sz="1200" u="sng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4"/>
                        </a:rPr>
                        <a:t>PLC Guide</a:t>
                      </a:r>
                      <a:endParaRPr b="1" sz="10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Monday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Tuesday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Wednesday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Thursday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Friday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Curriculum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Essential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Unpacking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Creating learning target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 strike="sng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Assessment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Formative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Summative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 Dialogue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Line up daily learning objectives.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Go over unit 2B test.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Solidify unit 3 tests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Intervention/ Extension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7" name="Google Shape;127;p21"/>
          <p:cNvSpPr/>
          <p:nvPr/>
        </p:nvSpPr>
        <p:spPr>
          <a:xfrm>
            <a:off x="7545625" y="194150"/>
            <a:ext cx="1494000" cy="4794900"/>
          </a:xfrm>
          <a:prstGeom prst="roundRect">
            <a:avLst>
              <a:gd fmla="val 5696" name="adj"/>
            </a:avLst>
          </a:prstGeom>
          <a:solidFill>
            <a:srgbClr val="D9D2E9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/>
          <p:nvPr/>
        </p:nvSpPr>
        <p:spPr>
          <a:xfrm>
            <a:off x="7545625" y="194250"/>
            <a:ext cx="1494000" cy="479100"/>
          </a:xfrm>
          <a:prstGeom prst="roundRect">
            <a:avLst>
              <a:gd fmla="val 5696" name="adj"/>
            </a:avLst>
          </a:prstGeom>
          <a:solidFill>
            <a:srgbClr val="B4A7D6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7711075" y="233700"/>
            <a:ext cx="116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latin typeface="Verdana"/>
                <a:ea typeface="Verdana"/>
                <a:cs typeface="Verdana"/>
                <a:sym typeface="Verdana"/>
              </a:rPr>
              <a:t>Next time:</a:t>
            </a:r>
            <a:endParaRPr b="1" sz="1200" u="sng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7640275" y="673350"/>
            <a:ext cx="1304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" name="Google Shape;135;p22"/>
          <p:cNvGraphicFramePr/>
          <p:nvPr/>
        </p:nvGraphicFramePr>
        <p:xfrm>
          <a:off x="55225" y="17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{D7707559-1EE0-40C5-AD2C-DE8B2103DDE7}</a:tableStyleId>
              </a:tblPr>
              <a:tblGrid>
                <a:gridCol w="1360675"/>
                <a:gridCol w="1110700"/>
                <a:gridCol w="1235700"/>
                <a:gridCol w="1235700"/>
                <a:gridCol w="1235700"/>
                <a:gridCol w="1235700"/>
              </a:tblGrid>
              <a:tr h="57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8/14-8/15</a:t>
                      </a:r>
                      <a:endParaRPr b="1" sz="1200" u="sng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4"/>
                        </a:rPr>
                        <a:t>PLC Guide</a:t>
                      </a:r>
                      <a:endParaRPr b="1" sz="10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Monday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Tuesday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Wednesday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Thursday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Friday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Curriculum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Essential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Unpacking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Creating learning target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 strike="sng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Work on Notes for Monday 8/18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Assessment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Formative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Summative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 Dialogue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Intervention/ Extension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6" name="Google Shape;136;p22"/>
          <p:cNvSpPr/>
          <p:nvPr/>
        </p:nvSpPr>
        <p:spPr>
          <a:xfrm>
            <a:off x="7545625" y="194150"/>
            <a:ext cx="1494000" cy="4794900"/>
          </a:xfrm>
          <a:prstGeom prst="roundRect">
            <a:avLst>
              <a:gd fmla="val 5696" name="adj"/>
            </a:avLst>
          </a:prstGeom>
          <a:solidFill>
            <a:srgbClr val="D9D2E9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2"/>
          <p:cNvSpPr/>
          <p:nvPr/>
        </p:nvSpPr>
        <p:spPr>
          <a:xfrm>
            <a:off x="7545625" y="194250"/>
            <a:ext cx="1494000" cy="479100"/>
          </a:xfrm>
          <a:prstGeom prst="roundRect">
            <a:avLst>
              <a:gd fmla="val 5696" name="adj"/>
            </a:avLst>
          </a:prstGeom>
          <a:solidFill>
            <a:srgbClr val="B4A7D6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 txBox="1"/>
          <p:nvPr/>
        </p:nvSpPr>
        <p:spPr>
          <a:xfrm>
            <a:off x="7711075" y="233700"/>
            <a:ext cx="116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latin typeface="Verdana"/>
                <a:ea typeface="Verdana"/>
                <a:cs typeface="Verdana"/>
                <a:sym typeface="Verdana"/>
              </a:rPr>
              <a:t>Next time:</a:t>
            </a:r>
            <a:endParaRPr b="1" sz="1200" u="sng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7640275" y="673350"/>
            <a:ext cx="1304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" name="Google Shape;144;p23"/>
          <p:cNvGraphicFramePr/>
          <p:nvPr/>
        </p:nvGraphicFramePr>
        <p:xfrm>
          <a:off x="55225" y="17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{D7707559-1EE0-40C5-AD2C-DE8B2103DDE7}</a:tableStyleId>
              </a:tblPr>
              <a:tblGrid>
                <a:gridCol w="1360675"/>
                <a:gridCol w="1110700"/>
                <a:gridCol w="1235700"/>
                <a:gridCol w="1235700"/>
                <a:gridCol w="1235700"/>
                <a:gridCol w="1235700"/>
              </a:tblGrid>
              <a:tr h="57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sng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4"/>
                        </a:rPr>
                        <a:t>PLC Guide</a:t>
                      </a:r>
                      <a:endParaRPr b="1" sz="10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Monday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Tuesday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Wednesday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Thursday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Friday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Curriculum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Essential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Unpacking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Creating learning target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 strike="sng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Assessment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Formative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Summative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 Dialogue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Intervention/ Extension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5" name="Google Shape;145;p23"/>
          <p:cNvSpPr/>
          <p:nvPr/>
        </p:nvSpPr>
        <p:spPr>
          <a:xfrm>
            <a:off x="7545625" y="194150"/>
            <a:ext cx="1494000" cy="4794900"/>
          </a:xfrm>
          <a:prstGeom prst="roundRect">
            <a:avLst>
              <a:gd fmla="val 5696" name="adj"/>
            </a:avLst>
          </a:prstGeom>
          <a:solidFill>
            <a:srgbClr val="D9D2E9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3"/>
          <p:cNvSpPr/>
          <p:nvPr/>
        </p:nvSpPr>
        <p:spPr>
          <a:xfrm>
            <a:off x="7545625" y="194250"/>
            <a:ext cx="1494000" cy="479100"/>
          </a:xfrm>
          <a:prstGeom prst="roundRect">
            <a:avLst>
              <a:gd fmla="val 5696" name="adj"/>
            </a:avLst>
          </a:prstGeom>
          <a:solidFill>
            <a:srgbClr val="B4A7D6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3"/>
          <p:cNvSpPr txBox="1"/>
          <p:nvPr/>
        </p:nvSpPr>
        <p:spPr>
          <a:xfrm>
            <a:off x="7711075" y="233700"/>
            <a:ext cx="116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latin typeface="Verdana"/>
                <a:ea typeface="Verdana"/>
                <a:cs typeface="Verdana"/>
                <a:sym typeface="Verdana"/>
              </a:rPr>
              <a:t>Next time:</a:t>
            </a:r>
            <a:endParaRPr b="1" sz="1200" u="sng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7640275" y="673350"/>
            <a:ext cx="1304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" name="Google Shape;153;p24"/>
          <p:cNvGraphicFramePr/>
          <p:nvPr/>
        </p:nvGraphicFramePr>
        <p:xfrm>
          <a:off x="55225" y="17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{D7707559-1EE0-40C5-AD2C-DE8B2103DDE7}</a:tableStyleId>
              </a:tblPr>
              <a:tblGrid>
                <a:gridCol w="1360675"/>
                <a:gridCol w="1110700"/>
                <a:gridCol w="1235700"/>
                <a:gridCol w="1235700"/>
                <a:gridCol w="1235700"/>
                <a:gridCol w="1235700"/>
              </a:tblGrid>
              <a:tr h="57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sng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4"/>
                        </a:rPr>
                        <a:t>PLC Guide</a:t>
                      </a:r>
                      <a:endParaRPr b="1" sz="10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Monday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Tuesday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Wednesday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Thursday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Friday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Curriculum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Essential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Unpacking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Creating learning target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 strike="sng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Assessment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Formative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Summative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 Dialogue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Intervention/ Extension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4" name="Google Shape;154;p24"/>
          <p:cNvSpPr/>
          <p:nvPr/>
        </p:nvSpPr>
        <p:spPr>
          <a:xfrm>
            <a:off x="7545625" y="194150"/>
            <a:ext cx="1494000" cy="4794900"/>
          </a:xfrm>
          <a:prstGeom prst="roundRect">
            <a:avLst>
              <a:gd fmla="val 5696" name="adj"/>
            </a:avLst>
          </a:prstGeom>
          <a:solidFill>
            <a:srgbClr val="D9D2E9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4"/>
          <p:cNvSpPr/>
          <p:nvPr/>
        </p:nvSpPr>
        <p:spPr>
          <a:xfrm>
            <a:off x="7545625" y="194250"/>
            <a:ext cx="1494000" cy="479100"/>
          </a:xfrm>
          <a:prstGeom prst="roundRect">
            <a:avLst>
              <a:gd fmla="val 5696" name="adj"/>
            </a:avLst>
          </a:prstGeom>
          <a:solidFill>
            <a:srgbClr val="B4A7D6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4"/>
          <p:cNvSpPr txBox="1"/>
          <p:nvPr/>
        </p:nvSpPr>
        <p:spPr>
          <a:xfrm>
            <a:off x="7711075" y="233700"/>
            <a:ext cx="116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latin typeface="Verdana"/>
                <a:ea typeface="Verdana"/>
                <a:cs typeface="Verdana"/>
                <a:sym typeface="Verdana"/>
              </a:rPr>
              <a:t>Next time:</a:t>
            </a:r>
            <a:endParaRPr b="1" sz="1200" u="sng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7640275" y="673350"/>
            <a:ext cx="1304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" name="Google Shape;162;p25"/>
          <p:cNvGraphicFramePr/>
          <p:nvPr/>
        </p:nvGraphicFramePr>
        <p:xfrm>
          <a:off x="55225" y="17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{D7707559-1EE0-40C5-AD2C-DE8B2103DDE7}</a:tableStyleId>
              </a:tblPr>
              <a:tblGrid>
                <a:gridCol w="1360675"/>
                <a:gridCol w="1110700"/>
                <a:gridCol w="1235700"/>
                <a:gridCol w="1235700"/>
                <a:gridCol w="1235700"/>
                <a:gridCol w="1235700"/>
              </a:tblGrid>
              <a:tr h="57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sng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4"/>
                        </a:rPr>
                        <a:t>PLC Guide</a:t>
                      </a:r>
                      <a:endParaRPr b="1" sz="10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Monday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Tuesday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Wednesday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Thursday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Friday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Curriculum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Essential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Unpacking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Creating learning target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 strike="sng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Assessment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Formative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Summative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 Dialogue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Intervention/ Extension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63;p25"/>
          <p:cNvSpPr/>
          <p:nvPr/>
        </p:nvSpPr>
        <p:spPr>
          <a:xfrm>
            <a:off x="7545625" y="194150"/>
            <a:ext cx="1494000" cy="4794900"/>
          </a:xfrm>
          <a:prstGeom prst="roundRect">
            <a:avLst>
              <a:gd fmla="val 5696" name="adj"/>
            </a:avLst>
          </a:prstGeom>
          <a:solidFill>
            <a:srgbClr val="D9D2E9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5"/>
          <p:cNvSpPr/>
          <p:nvPr/>
        </p:nvSpPr>
        <p:spPr>
          <a:xfrm>
            <a:off x="7545625" y="194250"/>
            <a:ext cx="1494000" cy="479100"/>
          </a:xfrm>
          <a:prstGeom prst="roundRect">
            <a:avLst>
              <a:gd fmla="val 5696" name="adj"/>
            </a:avLst>
          </a:prstGeom>
          <a:solidFill>
            <a:srgbClr val="B4A7D6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 txBox="1"/>
          <p:nvPr/>
        </p:nvSpPr>
        <p:spPr>
          <a:xfrm>
            <a:off x="7711075" y="233700"/>
            <a:ext cx="116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latin typeface="Verdana"/>
                <a:ea typeface="Verdana"/>
                <a:cs typeface="Verdana"/>
                <a:sym typeface="Verdana"/>
              </a:rPr>
              <a:t>Next time:</a:t>
            </a:r>
            <a:endParaRPr b="1" sz="1200" u="sng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7640275" y="673350"/>
            <a:ext cx="1304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Google Shape;171;p26"/>
          <p:cNvGraphicFramePr/>
          <p:nvPr/>
        </p:nvGraphicFramePr>
        <p:xfrm>
          <a:off x="55225" y="17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{D7707559-1EE0-40C5-AD2C-DE8B2103DDE7}</a:tableStyleId>
              </a:tblPr>
              <a:tblGrid>
                <a:gridCol w="1360675"/>
                <a:gridCol w="1110700"/>
                <a:gridCol w="1235700"/>
                <a:gridCol w="1235700"/>
                <a:gridCol w="1235700"/>
                <a:gridCol w="1235700"/>
              </a:tblGrid>
              <a:tr h="57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sng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4"/>
                        </a:rPr>
                        <a:t>PLC Guide</a:t>
                      </a:r>
                      <a:endParaRPr b="1" sz="10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Monday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Tuesday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Wednesday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Thursday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Friday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Curriculum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Essential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Unpacking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Creating learning target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 strike="sng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Assessment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Formative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Summative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 Dialogue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Intervention/ Extension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2" name="Google Shape;172;p26"/>
          <p:cNvSpPr/>
          <p:nvPr/>
        </p:nvSpPr>
        <p:spPr>
          <a:xfrm>
            <a:off x="7545625" y="194150"/>
            <a:ext cx="1494000" cy="4794900"/>
          </a:xfrm>
          <a:prstGeom prst="roundRect">
            <a:avLst>
              <a:gd fmla="val 5696" name="adj"/>
            </a:avLst>
          </a:prstGeom>
          <a:solidFill>
            <a:srgbClr val="D9D2E9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6"/>
          <p:cNvSpPr/>
          <p:nvPr/>
        </p:nvSpPr>
        <p:spPr>
          <a:xfrm>
            <a:off x="7545625" y="194250"/>
            <a:ext cx="1494000" cy="479100"/>
          </a:xfrm>
          <a:prstGeom prst="roundRect">
            <a:avLst>
              <a:gd fmla="val 5696" name="adj"/>
            </a:avLst>
          </a:prstGeom>
          <a:solidFill>
            <a:srgbClr val="B4A7D6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6"/>
          <p:cNvSpPr txBox="1"/>
          <p:nvPr/>
        </p:nvSpPr>
        <p:spPr>
          <a:xfrm>
            <a:off x="7711075" y="233700"/>
            <a:ext cx="116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latin typeface="Verdana"/>
                <a:ea typeface="Verdana"/>
                <a:cs typeface="Verdana"/>
                <a:sym typeface="Verdana"/>
              </a:rPr>
              <a:t>Next time:</a:t>
            </a:r>
            <a:endParaRPr b="1" sz="1200" u="sng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7640275" y="673350"/>
            <a:ext cx="1304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Google Shape;180;p27"/>
          <p:cNvGraphicFramePr/>
          <p:nvPr/>
        </p:nvGraphicFramePr>
        <p:xfrm>
          <a:off x="55225" y="17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{D7707559-1EE0-40C5-AD2C-DE8B2103DDE7}</a:tableStyleId>
              </a:tblPr>
              <a:tblGrid>
                <a:gridCol w="1360675"/>
                <a:gridCol w="1110700"/>
                <a:gridCol w="1235700"/>
                <a:gridCol w="1235700"/>
                <a:gridCol w="1235700"/>
                <a:gridCol w="1235700"/>
              </a:tblGrid>
              <a:tr h="57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sng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hlink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  <a:hlinkClick r:id="rId4"/>
                        </a:rPr>
                        <a:t>PLC Guide</a:t>
                      </a:r>
                      <a:endParaRPr b="1" sz="10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Monday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Tuesday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Wednesday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Thursday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Friday</a:t>
                      </a:r>
                      <a:endParaRPr b="1" sz="120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Curriculum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Essential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Unpacking standards</a:t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Creating learning target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800" strike="sng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Assessment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Formative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Common Summative 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2794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Char char="●"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 Dialogue</a:t>
                      </a:r>
                      <a:endParaRPr sz="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Intervention/ Extension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 u="sng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</a:t>
                      </a:r>
                      <a:endParaRPr b="1" sz="1150" u="sng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1" name="Google Shape;181;p27"/>
          <p:cNvSpPr/>
          <p:nvPr/>
        </p:nvSpPr>
        <p:spPr>
          <a:xfrm>
            <a:off x="7545625" y="194150"/>
            <a:ext cx="1494000" cy="4794900"/>
          </a:xfrm>
          <a:prstGeom prst="roundRect">
            <a:avLst>
              <a:gd fmla="val 5696" name="adj"/>
            </a:avLst>
          </a:prstGeom>
          <a:solidFill>
            <a:srgbClr val="D9D2E9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7"/>
          <p:cNvSpPr/>
          <p:nvPr/>
        </p:nvSpPr>
        <p:spPr>
          <a:xfrm>
            <a:off x="7545625" y="194250"/>
            <a:ext cx="1494000" cy="479100"/>
          </a:xfrm>
          <a:prstGeom prst="roundRect">
            <a:avLst>
              <a:gd fmla="val 5696" name="adj"/>
            </a:avLst>
          </a:prstGeom>
          <a:solidFill>
            <a:srgbClr val="B4A7D6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7"/>
          <p:cNvSpPr txBox="1"/>
          <p:nvPr/>
        </p:nvSpPr>
        <p:spPr>
          <a:xfrm>
            <a:off x="7711075" y="233700"/>
            <a:ext cx="116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latin typeface="Verdana"/>
                <a:ea typeface="Verdana"/>
                <a:cs typeface="Verdana"/>
                <a:sym typeface="Verdana"/>
              </a:rPr>
              <a:t>Next time:</a:t>
            </a:r>
            <a:endParaRPr b="1" sz="1200" u="sng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7640275" y="673350"/>
            <a:ext cx="13047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